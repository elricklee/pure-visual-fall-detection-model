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a5a5af57534c5c" /><Relationship Type="http://schemas.openxmlformats.org/officeDocument/2006/relationships/extended-properties" Target="/docProps/app.xml" Id="R181197d98cb14885" /><Relationship Type="http://schemas.openxmlformats.org/officeDocument/2006/relationships/officeDocument" Target="/ppt/presentation.xml" Id="Re1a89164d114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d89fc887814a25"/>
  </p:sldMasterIdLst>
  <p:notesMasterIdLst>
    <p:notesMasterId xmlns:r="http://schemas.openxmlformats.org/officeDocument/2006/relationships" r:id="R56409f81bd2545ae"/>
  </p:notesMasterIdLst>
  <p:sldIdLst>
    <p:sldId xmlns:r="http://schemas.openxmlformats.org/officeDocument/2006/relationships" id="256" r:id="Rd0681d4eb65d4605"/>
    <p:sldId xmlns:r="http://schemas.openxmlformats.org/officeDocument/2006/relationships" id="257" r:id="Raa6126f977374d6a"/>
    <p:sldId xmlns:r="http://schemas.openxmlformats.org/officeDocument/2006/relationships" id="258" r:id="Re0259980058a4e54"/>
    <p:sldId xmlns:r="http://schemas.openxmlformats.org/officeDocument/2006/relationships" id="259" r:id="R4f80164eef7c403b"/>
    <p:sldId xmlns:r="http://schemas.openxmlformats.org/officeDocument/2006/relationships" id="260" r:id="Rf436ad50e7ab4a20"/>
    <p:sldId xmlns:r="http://schemas.openxmlformats.org/officeDocument/2006/relationships" id="261" r:id="Rc37c4b7d632d4eb5"/>
    <p:sldId xmlns:r="http://schemas.openxmlformats.org/officeDocument/2006/relationships" id="262" r:id="Raa3371415922461a"/>
    <p:sldId xmlns:r="http://schemas.openxmlformats.org/officeDocument/2006/relationships" id="263" r:id="R0b410f5e7f07497b"/>
    <p:sldId xmlns:r="http://schemas.openxmlformats.org/officeDocument/2006/relationships" id="264" r:id="R14ee0695dcf24c7b"/>
    <p:sldId xmlns:r="http://schemas.openxmlformats.org/officeDocument/2006/relationships" id="265" r:id="Raeabe85346654e8f"/>
    <p:sldId xmlns:r="http://schemas.openxmlformats.org/officeDocument/2006/relationships" id="266" r:id="R12d1031bc85f45a1"/>
    <p:sldId xmlns:r="http://schemas.openxmlformats.org/officeDocument/2006/relationships" id="267" r:id="R25303ccad33e40af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c3955ffa44d7b" /><Relationship Type="http://schemas.openxmlformats.org/officeDocument/2006/relationships/slideMaster" Target="/ppt/slideMasters/slideMaster1.xml" Id="R4fd89fc887814a25" /><Relationship Type="http://schemas.openxmlformats.org/officeDocument/2006/relationships/notesMaster" Target="/ppt/notesMasters/notesMaster1.xml" Id="R56409f81bd2545ae" /><Relationship Type="http://schemas.openxmlformats.org/officeDocument/2006/relationships/presProps" Target="/ppt/presProps.xml" Id="R3b7a18e6d85b47fc" /><Relationship Type="http://schemas.openxmlformats.org/officeDocument/2006/relationships/viewProps" Target="/ppt/viewProps.xml" Id="R4e760f42bcf84467" /><Relationship Type="http://schemas.openxmlformats.org/officeDocument/2006/relationships/tableStyles" Target="/ppt/tableStyles.xml" Id="R72ab89d9cd094c33" /><Relationship Type="http://schemas.openxmlformats.org/officeDocument/2006/relationships/slide" Target="/ppt/slides/slide1.xml" Id="Rd0681d4eb65d4605" /><Relationship Type="http://schemas.openxmlformats.org/officeDocument/2006/relationships/slide" Target="/ppt/slides/slide2.xml" Id="Raa6126f977374d6a" /><Relationship Type="http://schemas.openxmlformats.org/officeDocument/2006/relationships/slide" Target="/ppt/slides/slide3.xml" Id="Re0259980058a4e54" /><Relationship Type="http://schemas.openxmlformats.org/officeDocument/2006/relationships/slide" Target="/ppt/slides/slide4.xml" Id="R4f80164eef7c403b" /><Relationship Type="http://schemas.openxmlformats.org/officeDocument/2006/relationships/slide" Target="/ppt/slides/slide5.xml" Id="Rf436ad50e7ab4a20" /><Relationship Type="http://schemas.openxmlformats.org/officeDocument/2006/relationships/slide" Target="/ppt/slides/slide6.xml" Id="Rc37c4b7d632d4eb5" /><Relationship Type="http://schemas.openxmlformats.org/officeDocument/2006/relationships/slide" Target="/ppt/slides/slide7.xml" Id="Raa3371415922461a" /><Relationship Type="http://schemas.openxmlformats.org/officeDocument/2006/relationships/slide" Target="/ppt/slides/slide8.xml" Id="R0b410f5e7f07497b" /><Relationship Type="http://schemas.openxmlformats.org/officeDocument/2006/relationships/slide" Target="/ppt/slides/slide9.xml" Id="R14ee0695dcf24c7b" /><Relationship Type="http://schemas.openxmlformats.org/officeDocument/2006/relationships/slide" Target="/ppt/slides/slide10.xml" Id="Raeabe85346654e8f" /><Relationship Type="http://schemas.openxmlformats.org/officeDocument/2006/relationships/slide" Target="/ppt/slides/slide11.xml" Id="R12d1031bc85f45a1" /><Relationship Type="http://schemas.openxmlformats.org/officeDocument/2006/relationships/slide" Target="/ppt/slides/slide12.xml" Id="R25303ccad33e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93963d4564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1d2a87e4744548" /><Relationship Type="http://schemas.openxmlformats.org/officeDocument/2006/relationships/notesMaster" Target="/ppt/notesMasters/notesMaster1.xml" Id="R48f35055e84947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b3659617294af6" /><Relationship Type="http://schemas.openxmlformats.org/officeDocument/2006/relationships/notesMaster" Target="/ppt/notesMasters/notesMaster1.xml" Id="R4cbdf0ad35874d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5fc777ba634621" /><Relationship Type="http://schemas.openxmlformats.org/officeDocument/2006/relationships/notesMaster" Target="/ppt/notesMasters/notesMaster1.xml" Id="Re95591ecc7714c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ecafefd2c84f3b" /><Relationship Type="http://schemas.openxmlformats.org/officeDocument/2006/relationships/notesMaster" Target="/ppt/notesMasters/notesMaster1.xml" Id="Rb0b7da4e12fa46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d5ef7257042e8" /><Relationship Type="http://schemas.openxmlformats.org/officeDocument/2006/relationships/notesMaster" Target="/ppt/notesMasters/notesMaster1.xml" Id="R4ebf9f328c2d4a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4b35747924254" /><Relationship Type="http://schemas.openxmlformats.org/officeDocument/2006/relationships/notesMaster" Target="/ppt/notesMasters/notesMaster1.xml" Id="R85595c89d07141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2299047b2a4fa5" /><Relationship Type="http://schemas.openxmlformats.org/officeDocument/2006/relationships/notesMaster" Target="/ppt/notesMasters/notesMaster1.xml" Id="R00ac47dd029049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500df43304147" /><Relationship Type="http://schemas.openxmlformats.org/officeDocument/2006/relationships/notesMaster" Target="/ppt/notesMasters/notesMaster1.xml" Id="R2541ac5f12da4e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3a29e3783d49b2" /><Relationship Type="http://schemas.openxmlformats.org/officeDocument/2006/relationships/notesMaster" Target="/ppt/notesMasters/notesMaster1.xml" Id="R5f855c074d2242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77bc3399264466" /><Relationship Type="http://schemas.openxmlformats.org/officeDocument/2006/relationships/notesMaster" Target="/ppt/notesMasters/notesMaster1.xml" Id="R90519640448a49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c2283c513246a5" /><Relationship Type="http://schemas.openxmlformats.org/officeDocument/2006/relationships/notesMaster" Target="/ppt/notesMasters/notesMaster1.xml" Id="R9c214949b1ed42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e3ba841c064d41" /><Relationship Type="http://schemas.openxmlformats.org/officeDocument/2006/relationships/notesMaster" Target="/ppt/notesMasters/notesMaster1.xml" Id="R6b2e36616f8a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开场：本项目不是单点模型，而是从视频输入到事件告警与证据输出的完整MVP。</a:t>
            </a:r>
          </a:p>
          <a:p xmlns:a="http://schemas.openxmlformats.org/drawingml/2006/main">
            <a:r>
              <a:t>- C:/Users/32435/Downloads/校企协同数字技术大赛方案--华为专项赛道.docx</a:t>
            </a:r>
          </a:p>
          <a:p xmlns:a="http://schemas.openxmlformats.org/drawingml/2006/main">
            <a:r>
              <a:t>- C:\Users\32435\Desktop\总文件夹\华为赛道\pure-visual-fall-detection-model\samples\reference_output_fp32.jpg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C:/Users/32435/Downloads/校企协同数字技术大赛方案--华为专项赛道.docx</a:t>
            </a:r>
          </a:p>
          <a:p xmlns:a="http://schemas.openxmlformats.org/drawingml/2006/main">
            <a:r>
              <a:t>- C:\Users\32435\Desktop\总文件夹\华为赛道\pure-visual-fall-detection-model\samples\reference_output_fp32.jpg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强调：本项目围绕赛题硬指标反向设计模型、输入尺寸、量化和证据输出。</a:t>
            </a:r>
          </a:p>
          <a:p xmlns:a="http://schemas.openxmlformats.org/drawingml/2006/main">
            <a:r>
              <a:t>- C:/Users/32435/Downloads/校企协同数字技术大赛方案--华为专项赛道.docx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C:/Users/32435/Downloads/校企协同数字技术大赛方案--华为专项赛道.docx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讲解顺序：先感知人体，再解释姿态，再用时间连续性确认，最后生成可复盘证据。</a:t>
            </a:r>
          </a:p>
          <a:p xmlns:a="http://schemas.openxmlformats.org/drawingml/2006/main">
            <a:r>
              <a:t>- C:\Users\32435\Desktop\总文件夹\华为赛道\pure-visual-fall-detection-model\fall_detection\fall_logic.py</a:t>
            </a:r>
          </a:p>
          <a:p xmlns:a="http://schemas.openxmlformats.org/drawingml/2006/main">
            <a:r>
              <a:t>- C:\Users\32435\Desktop\总文件夹\华为赛道\pure-visual-fall-detection-model\fall_detection\state_machine.py</a:t>
            </a:r>
          </a:p>
          <a:p xmlns:a="http://schemas.openxmlformats.org/drawingml/2006/main">
            <a:r>
              <a:t>- C:\Users\32435\Desktop\总文件夹\华为赛道\pure-visual-fall-detection-model\pictures-for-ppt\08_val_batch0_pred.jpg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C:\Users\32435\Desktop\总文件夹\华为赛道\pure-visual-fall-detection-model\fall_detection\fall_logic.py</a:t>
            </a:r>
          </a:p>
          <a:p xmlns:a="http://schemas.openxmlformats.org/drawingml/2006/main">
            <a:r>
              <a:t>- C:\Users\32435\Desktop\总文件夹\华为赛道\pure-visual-fall-detection-model\fall_detection\state_machine.py</a:t>
            </a:r>
          </a:p>
          <a:p xmlns:a="http://schemas.openxmlformats.org/drawingml/2006/main">
            <a:r>
              <a:t>- C:\Users\32435\Desktop\总文件夹\华为赛道\pure-visual-fall-detection-model\pictures-for-ppt\08_val_batch0_pred.jpg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核心创新：不依赖不可解释的单一分类结果，而是将关键点转化为可复核的姿态证据。</a:t>
            </a:r>
          </a:p>
          <a:p xmlns:a="http://schemas.openxmlformats.org/drawingml/2006/main">
            <a:r>
              <a:t>- C:\Users\32435\Desktop\总文件夹\华为赛道\pure-visual-fall-detection-model\fall_detection\fall_logic.py</a:t>
            </a:r>
          </a:p>
          <a:p xmlns:a="http://schemas.openxmlformats.org/drawingml/2006/main">
            <a:r>
              <a:t>- C:\Users\32435\Desktop\总文件夹\华为赛道\pure-visual-fall-detection-model\runs\system\multi_person_int8_full_frame\events\fall_event_p4_frame000049\snapshot.jpg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C:\Users\32435\Desktop\总文件夹\华为赛道\pure-visual-fall-detection-model\fall_detection\fall_logic.py</a:t>
            </a:r>
          </a:p>
          <a:p xmlns:a="http://schemas.openxmlformats.org/drawingml/2006/main">
            <a:r>
              <a:t>- C:\Users\32435\Desktop\总文件夹\华为赛道\pure-visual-fall-detection-model\runs\system\multi_person_int8_full_frame\events\fall_event_p4_frame000049\snapshot.jpg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说明：状态机将单帧风险转化为事件过程，降低弯腰、蹲下或关键点抖动造成的瞬时误报。</a:t>
            </a:r>
          </a:p>
          <a:p xmlns:a="http://schemas.openxmlformats.org/drawingml/2006/main">
            <a:r>
              <a:t>- C:\Users\32435\Desktop\总文件夹\华为赛道\pure-visual-fall-detection-model\fall_detection\state_machine.py</a:t>
            </a:r>
          </a:p>
          <a:p xmlns:a="http://schemas.openxmlformats.org/drawingml/2006/main">
            <a:r>
              <a:t>- C:\Users\32435\Desktop\总文件夹\华为赛道\pure-visual-fall-detection-model\.ppt_build\template-inspect\assets\ppt\media\image3.jpg</a:t>
            </a:r>
          </a:p>
          <a:p xmlns:a="http://schemas.openxmlformats.org/drawingml/2006/main">
            <a:r>
              <a:t>- C:\Users\32435\Desktop\总文件夹\华为赛道\pure-visual-fall-detection-model\.ppt_build\template-inspect\assets\ppt\media\image2.jpg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C:\Users\32435\Desktop\总文件夹\华为赛道\pure-visual-fall-detection-model\fall_detection\state_machine.py</a:t>
            </a:r>
          </a:p>
          <a:p xmlns:a="http://schemas.openxmlformats.org/drawingml/2006/main">
            <a:r>
              <a:t>- C:\Users\32435\Desktop\总文件夹\华为赛道\pure-visual-fall-detection-model\.ppt_build\template-inspect\assets\ppt\media\image3.jpg</a:t>
            </a:r>
          </a:p>
          <a:p xmlns:a="http://schemas.openxmlformats.org/drawingml/2006/main">
            <a:r>
              <a:t>- C:\Users\32435\Desktop\总文件夹\华为赛道\pure-visual-fall-detection-model\.ppt_build\template-inspect\assets\ppt\media\image2.jpg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证据边界：输入视频为合成多人视频，用于验证多人跟踪、独立状态和事件留证功能。</a:t>
            </a:r>
          </a:p>
          <a:p xmlns:a="http://schemas.openxmlformats.org/drawingml/2006/main">
            <a:r>
              <a:t>- C:\Users\32435\Desktop\总文件夹\华为赛道\pure-visual-fall-detection-model\reports\evaluation\multi_person_functional_validation.json</a:t>
            </a:r>
          </a:p>
          <a:p xmlns:a="http://schemas.openxmlformats.org/drawingml/2006/main">
            <a:r>
              <a:t>- C:\Users\32435\Desktop\总文件夹\华为赛道\pure-visual-fall-detection-model\runs\system\multi_person_int8_roi\events\fall_event_p4_frame000027\snapshot.jpg</a:t>
            </a:r>
          </a:p>
          <a:p xmlns:a="http://schemas.openxmlformats.org/drawingml/2006/main">
            <a:r>
              <a:t>- C:\Users\32435\Desktop\总文件夹\华为赛道\pure-visual-fall-detection-model\runs\system\multi_person_int8_roi\events\fall_event_p6_frame000055\snapshot.jpg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C:\Users\32435\Desktop\总文件夹\华为赛道\pure-visual-fall-detection-model\reports\evaluation\multi_person_functional_validation.json</a:t>
            </a:r>
          </a:p>
          <a:p xmlns:a="http://schemas.openxmlformats.org/drawingml/2006/main">
            <a:r>
              <a:t>- C:\Users\32435\Desktop\总文件夹\华为赛道\pure-visual-fall-detection-model\runs\system\multi_person_int8_roi\events\fall_event_p4_frame000027\snapshot.jpg</a:t>
            </a:r>
          </a:p>
          <a:p xmlns:a="http://schemas.openxmlformats.org/drawingml/2006/main">
            <a:r>
              <a:t>- C:\Users\32435\Desktop\总文件夹\华为赛道\pure-visual-fall-detection-model\runs\system\multi_person_int8_roi\events\fall_event_p6_frame000055\snapshot.jpg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数字口径：以results.csv的50个epoch记录为准，不采用素材说明文件中的未核实轮数。</a:t>
            </a:r>
          </a:p>
          <a:p xmlns:a="http://schemas.openxmlformats.org/drawingml/2006/main">
            <a:r>
              <a:t>- C:\Users\32435\Desktop\总文件夹\华为赛道\pure-visual-fall-detection-model\runs\train\fall_pose_v3\results.csv</a:t>
            </a:r>
          </a:p>
          <a:p xmlns:a="http://schemas.openxmlformats.org/drawingml/2006/main">
            <a:r>
              <a:t>- C:\Users\32435\Desktop\总文件夹\华为赛道\pure-visual-fall-detection-model\runs\train\fall_pose_v3\results.png</a:t>
            </a:r>
          </a:p>
          <a:p xmlns:a="http://schemas.openxmlformats.org/drawingml/2006/main">
            <a:r>
              <a:t>- C:\Users\32435\Desktop\总文件夹\华为赛道\pure-visual-fall-detection-model\runs\train\fall_pose_v3\val_batch0_pred.jpg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C:\Users\32435\Desktop\总文件夹\华为赛道\pure-visual-fall-detection-model\runs\train\fall_pose_v3\results.csv</a:t>
            </a:r>
          </a:p>
          <a:p xmlns:a="http://schemas.openxmlformats.org/drawingml/2006/main">
            <a:r>
              <a:t>- C:\Users\32435\Desktop\总文件夹\华为赛道\pure-visual-fall-detection-model\runs\train\fall_pose_v3\results.png</a:t>
            </a:r>
          </a:p>
          <a:p xmlns:a="http://schemas.openxmlformats.org/drawingml/2006/main">
            <a:r>
              <a:t>- C:\Users\32435\Desktop\总文件夹\华为赛道\pure-visual-fall-detection-model\runs\train\fall_pose_v3\val_batch0_pred.jpg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主动说明样本量与伪红外边界，避免把87.5%表述成总体准确率。</a:t>
            </a:r>
          </a:p>
          <a:p xmlns:a="http://schemas.openxmlformats.org/drawingml/2006/main">
            <a:r>
              <a:t>- C:\Users\32435\Desktop\总文件夹\华为赛道\pure-visual-fall-detection-model\reports\evaluation\pseudo_ir_labeled_video_eval.json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C:\Users\32435\Desktop\总文件夹\华为赛道\pure-visual-fall-detection-model\reports\evaluation\pseudo_ir_labeled_video_eval.json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解释体积变化：权重由FP32量化到INT8，并采用QDQ图表达；模型文件降至原来的27.68%。</a:t>
            </a:r>
          </a:p>
          <a:p xmlns:a="http://schemas.openxmlformats.org/drawingml/2006/main">
            <a:r>
              <a:t>- C:\Users\32435\Desktop\总文件夹\华为赛道\pure-visual-fall-detection-model\reports\model\fp32_model_audit.json</a:t>
            </a:r>
          </a:p>
          <a:p xmlns:a="http://schemas.openxmlformats.org/drawingml/2006/main">
            <a:r>
              <a:t>- C:\Users\32435\Desktop\总文件夹\华为赛道\pure-visual-fall-detection-model\reports\model\int8_model_audit.json</a:t>
            </a:r>
          </a:p>
          <a:p xmlns:a="http://schemas.openxmlformats.org/drawingml/2006/main">
            <a:r>
              <a:t>- C:\Users\32435\Desktop\总文件夹\华为赛道\pure-visual-fall-detection-model\reports\model\int8_quantization.json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C:\Users\32435\Desktop\总文件夹\华为赛道\pure-visual-fall-detection-model\reports\model\fp32_model_audit.json</a:t>
            </a:r>
          </a:p>
          <a:p xmlns:a="http://schemas.openxmlformats.org/drawingml/2006/main">
            <a:r>
              <a:t>- C:\Users\32435\Desktop\总文件夹\华为赛道\pure-visual-fall-detection-model\reports\model\int8_model_audit.json</a:t>
            </a:r>
          </a:p>
          <a:p xmlns:a="http://schemas.openxmlformats.org/drawingml/2006/main">
            <a:r>
              <a:t>- C:\Users\32435\Desktop\总文件夹\华为赛道\pure-visual-fall-detection-model\reports\model\int8_quantization.json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答辩口径：19.02ms是PC CPU上的纯模型参考值；真实NPU延迟和内存必须在指定板卡上验证。</a:t>
            </a:r>
          </a:p>
          <a:p xmlns:a="http://schemas.openxmlformats.org/drawingml/2006/main">
            <a:r>
              <a:t>- C:\Users\32435\Desktop\总文件夹\华为赛道\pure-visual-fall-detection-model\reports\model\int8_cpu_benchmark.json</a:t>
            </a:r>
          </a:p>
          <a:p xmlns:a="http://schemas.openxmlformats.org/drawingml/2006/main">
            <a:r>
              <a:t>- C:\Users\32435\Desktop\总文件夹\华为赛道\pure-visual-fall-detection-model\reports\compliance\model_compliance_report.json</a:t>
            </a:r>
          </a:p>
          <a:p xmlns:a="http://schemas.openxmlformats.org/drawingml/2006/main">
            <a:r>
              <a:t>- C:/Users/32435/Downloads/校企协同数字技术大赛方案--华为专项赛道.docx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C:\Users\32435\Desktop\总文件夹\华为赛道\pure-visual-fall-detection-model\reports\model\int8_cpu_benchmark.json</a:t>
            </a:r>
          </a:p>
          <a:p xmlns:a="http://schemas.openxmlformats.org/drawingml/2006/main">
            <a:r>
              <a:t>- C:\Users\32435\Desktop\总文件夹\华为赛道\pure-visual-fall-detection-model\reports\compliance\model_compliance_report.json</a:t>
            </a:r>
          </a:p>
          <a:p xmlns:a="http://schemas.openxmlformats.org/drawingml/2006/main">
            <a:r>
              <a:t>- C:/Users/32435/Downloads/校企协同数字技术大赛方案--华为专项赛道.docx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价值落点：系统不仅识别跌倒，还能留下供照护人员复核的完整事件材料。</a:t>
            </a:r>
          </a:p>
          <a:p xmlns:a="http://schemas.openxmlformats.org/drawingml/2006/main">
            <a:r>
              <a:t>- C:\Users\32435\Desktop\总文件夹\华为赛道\pure-visual-fall-detection-model\scripts\run_system.py</a:t>
            </a:r>
          </a:p>
          <a:p xmlns:a="http://schemas.openxmlformats.org/drawingml/2006/main">
            <a:r>
              <a:t>- C:\Users\32435\Desktop\总文件夹\华为赛道\pure-visual-fall-detection-model\runs\system\multi_person_int8_roi</a:t>
            </a:r>
          </a:p>
          <a:p xmlns:a="http://schemas.openxmlformats.org/drawingml/2006/main">
            <a:r>
              <a:t>- C:\Users\32435\Desktop\总文件夹\华为赛道\pure-visual-fall-detection-model\.ppt_build\template-inspect\assets\ppt\media\image4.jpg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C:\Users\32435\Desktop\总文件夹\华为赛道\pure-visual-fall-detection-model\scripts\run_system.py</a:t>
            </a:r>
          </a:p>
          <a:p xmlns:a="http://schemas.openxmlformats.org/drawingml/2006/main">
            <a:r>
              <a:t>- C:\Users\32435\Desktop\总文件夹\华为赛道\pure-visual-fall-detection-model\runs\system\multi_person_int8_roi</a:t>
            </a:r>
          </a:p>
          <a:p xmlns:a="http://schemas.openxmlformats.org/drawingml/2006/main">
            <a:r>
              <a:t>- C:\Users\32435\Desktop\总文件夹\华为赛道\pure-visual-fall-detection-model\.ppt_build\template-inspect\assets\ppt\media\image4.jpg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收束：优势落在工程闭环、可解释性和端侧准备，不夸大未实测的NPU与真实红外结果。</a:t>
            </a:r>
          </a:p>
          <a:p xmlns:a="http://schemas.openxmlformats.org/drawingml/2006/main">
            <a:r>
              <a:t>- C:\Users\32435\Desktop\总文件夹\华为赛道\pure-visual-fall-detection-model\reports\纯视觉跌倒检测MVP项目当前情况详细报告_20260728.docx</a:t>
            </a:r>
          </a:p>
          <a:p xmlns:a="http://schemas.openxmlformats.org/drawingml/2006/main">
            <a:r>
              <a:t>- C:\Users\32435\Desktop\总文件夹\华为赛道\pure-visual-fall-detection-model\reports\compliance\model_compliance_report.json</a:t>
            </a:r>
          </a:p>
          <a:p xmlns:a="http://schemas.openxmlformats.org/drawingml/2006/main">
            <a:r>
              <a:t>- C:/Users/32435/Desktop/三人交叉协作分工方案（适配华为赛题·纯视觉跌倒检测MVP开发）.docx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C:\Users\32435\Desktop\总文件夹\华为赛道\pure-visual-fall-detection-model\reports\纯视觉跌倒检测MVP项目当前情况详细报告_20260728.docx</a:t>
            </a:r>
          </a:p>
          <a:p xmlns:a="http://schemas.openxmlformats.org/drawingml/2006/main">
            <a:r>
              <a:t>- C:\Users\32435\Desktop\总文件夹\华为赛道\pure-visual-fall-detection-model\reports\compliance\model_compliance_report.json</a:t>
            </a:r>
          </a:p>
          <a:p xmlns:a="http://schemas.openxmlformats.org/drawingml/2006/main">
            <a:r>
              <a:t>- C:/Users/32435/Desktop/三人交叉协作分工方案（适配华为赛题·纯视觉跌倒检测MVP开发）.docx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b48cb51f74a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8a0f16e754f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1139142ef45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a21c089e34d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cb0cd007f4b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e6f5b600441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da49658cd45d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a0d92f9c2452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e4cac429a4e1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b951ff6df494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12cd3a9e940b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C172EF-E0E6-4347-A6C7-56D450BA74F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E84C521-980B-4F93-A9AF-E2D5CBA31A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B835F8-E597-42A7-B943-05970732B7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62D4BE-427D-4E2E-BCBD-3E0A1FC0A5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183B8E-818E-4A82-A42E-5C622E8FFD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62E998-2FC2-4F41-BC36-829B20663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B082A6-7137-4A0F-ACAC-017D0C655C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A45570-26C9-41E9-8E3D-8FF9E8AB18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3D34BF-3ED4-4A0B-8385-8AEC6413C0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00CD07-DDF0-4B5C-A11C-CAF90E4C10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F0CEF0-B341-4149-91B4-2EA08F2A35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1B2838-80BA-4149-B86D-AD8A3D5D59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E8CFEC-EF21-4B76-980A-D566BEBB47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534A4-D7D7-4341-A001-790F644508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38F100-0FE3-496C-83B5-B1D28FBC38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2129BA-E5C0-47CC-B051-81636F5D1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D5AC868-6C6D-4241-8B66-8BB9B7A4F4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4D5DFEB-2DCD-4F55-B1AF-80C3CBA3DB4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0CCD35-25B3-49E9-8E43-E0F9314D64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B4D3F0E-3BA0-4E7F-A642-C2593B347F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EB5BF5-2F37-44BA-9A07-792C9BF07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C2870E-AEBA-4DCF-B057-FA85D92AD7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32B086-EB7A-47BE-9C65-2EC62994B0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88DA951-0605-4303-8FB5-4073C1D30C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37BC73C-5375-4FC1-8178-79532FCB0CD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71D0BCB-15E9-4498-A448-810E779F875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CACF544-3202-444D-B87A-2AE26206A3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801274D-4E2C-4361-B41F-6EF2FAA260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88CB6B1-5164-4B5D-BA31-812EE58787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0FA423-2D84-4C91-885A-E58BFFDA7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3088123-960F-4E06-AC6D-770335A891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51C581E-9C8F-4BCC-9650-C187831711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AF63FD3-1A70-463D-B62A-E04DE225F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E8F3204-D317-4633-BA40-D65CB26F6D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DA8983D-E417-4580-9263-B46E153EFD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2B60687-8A51-4505-A3ED-5E8812838C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B8D04D-FFFD-4730-8321-B02E3BA9CF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C874BAD-E147-4EC9-84A3-23AADA709C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48B71F0-995E-4B86-92BB-92D67BA141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84D776-4AE3-454D-B173-837BF28F2A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E7E123E-3E9D-4AF7-8A20-DD9B68D43F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D677D6-F209-4D9F-AF53-BC05BA6B5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D211B0-6CB2-4D7B-A872-B7AC44580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C0748D1-750A-43CA-B922-CD4BBA46A5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EE95368-7180-4FE4-9CA6-72F5520819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19D70C4-189E-4DC5-8B65-FB8A8110A2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B544F8C-146E-4BB9-94D3-3D455B58C2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1386F78-405D-4D3A-A939-0B70222707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7F63FD-E0A4-448F-B4DA-E554D610E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CC9632-BD8E-4522-923C-F3120EAC39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7E967D-FA92-4919-917C-81C37C869F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074B57-533A-488F-A333-290A15F621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155D45-4DA9-4513-84B7-02315B5B4C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DC9C328-C211-4E9A-844B-E55126634F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F75148-4EF2-4685-B8DE-C5AA7F1215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773AE4-9941-4E56-A128-CA0A52E5E1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1A02D2-8C94-40D2-B0E3-662F3A97D3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D64CF1-7401-4AA4-8ED6-4E24325B06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eecc0e7f1b423b" /><Relationship Type="http://schemas.openxmlformats.org/officeDocument/2006/relationships/slideLayout" Target="/ppt/slideLayouts/slideLayout1.xml" Id="Rcde586a4c52b4aad" /><Relationship Type="http://schemas.openxmlformats.org/officeDocument/2006/relationships/slideLayout" Target="/ppt/slideLayouts/slideLayout2.xml" Id="R3f108a6acfde4d14" /><Relationship Type="http://schemas.openxmlformats.org/officeDocument/2006/relationships/slideLayout" Target="/ppt/slideLayouts/slideLayout3.xml" Id="Rdcd56ed2f42847f0" /><Relationship Type="http://schemas.openxmlformats.org/officeDocument/2006/relationships/slideLayout" Target="/ppt/slideLayouts/slideLayout4.xml" Id="R0cba715f839f4423" /><Relationship Type="http://schemas.openxmlformats.org/officeDocument/2006/relationships/slideLayout" Target="/ppt/slideLayouts/slideLayout5.xml" Id="Ra100d8fb634843b7" /><Relationship Type="http://schemas.openxmlformats.org/officeDocument/2006/relationships/slideLayout" Target="/ppt/slideLayouts/slideLayout6.xml" Id="R78c49f77f58f4f04" /><Relationship Type="http://schemas.openxmlformats.org/officeDocument/2006/relationships/slideLayout" Target="/ppt/slideLayouts/slideLayout7.xml" Id="R1ad2d6004fee4398" /><Relationship Type="http://schemas.openxmlformats.org/officeDocument/2006/relationships/slideLayout" Target="/ppt/slideLayouts/slideLayout8.xml" Id="R6f544198493f4aae" /><Relationship Type="http://schemas.openxmlformats.org/officeDocument/2006/relationships/slideLayout" Target="/ppt/slideLayouts/slideLayout9.xml" Id="R54fac238d3054e00" /><Relationship Type="http://schemas.openxmlformats.org/officeDocument/2006/relationships/slideLayout" Target="/ppt/slideLayouts/slideLayout10.xml" Id="Re1b25caa9c88493c" /><Relationship Type="http://schemas.openxmlformats.org/officeDocument/2006/relationships/slideLayout" Target="/ppt/slideLayouts/slideLayout11.xml" Id="R9173d7a3280044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2B4CC25-6C2F-4F5A-846E-3828983F0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DF6344-F1C9-49B0-B14A-7CE7B42ECA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2BF71D-8219-4CD2-BBBF-41CBA1DC007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A34496-408F-4A6E-B5DA-EE7580392A6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8322C6-ACFD-45F7-A6FB-F0F9376BC3D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e586a4c52b4aad"/>
    <p:sldLayoutId xmlns:r="http://schemas.openxmlformats.org/officeDocument/2006/relationships" id="2147483650" r:id="R3f108a6acfde4d14"/>
    <p:sldLayoutId xmlns:r="http://schemas.openxmlformats.org/officeDocument/2006/relationships" id="2147483651" r:id="Rdcd56ed2f42847f0"/>
    <p:sldLayoutId xmlns:r="http://schemas.openxmlformats.org/officeDocument/2006/relationships" id="2147483652" r:id="R0cba715f839f4423"/>
    <p:sldLayoutId xmlns:r="http://schemas.openxmlformats.org/officeDocument/2006/relationships" id="2147483653" r:id="Ra100d8fb634843b7"/>
    <p:sldLayoutId xmlns:r="http://schemas.openxmlformats.org/officeDocument/2006/relationships" id="2147483654" r:id="R78c49f77f58f4f04"/>
    <p:sldLayoutId xmlns:r="http://schemas.openxmlformats.org/officeDocument/2006/relationships" id="2147483655" r:id="R1ad2d6004fee4398"/>
    <p:sldLayoutId xmlns:r="http://schemas.openxmlformats.org/officeDocument/2006/relationships" id="2147483656" r:id="R6f544198493f4aae"/>
    <p:sldLayoutId xmlns:r="http://schemas.openxmlformats.org/officeDocument/2006/relationships" id="2147483657" r:id="R54fac238d3054e00"/>
    <p:sldLayoutId xmlns:r="http://schemas.openxmlformats.org/officeDocument/2006/relationships" id="2147483658" r:id="Re1b25caa9c88493c"/>
    <p:sldLayoutId xmlns:r="http://schemas.openxmlformats.org/officeDocument/2006/relationships" id="2147483659" r:id="R9173d7a32800443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4c838a50404b3a" /><Relationship Type="http://schemas.openxmlformats.org/officeDocument/2006/relationships/image" Target="/ppt/media/image.jpeg" Id="Rb39abcc4870f409b" /><Relationship Type="http://schemas.openxmlformats.org/officeDocument/2006/relationships/image" Target="/ppt/media/image2.jpeg" Id="R27607cafee1043a5" /><Relationship Type="http://schemas.openxmlformats.org/officeDocument/2006/relationships/notesSlide" Target="/ppt/notesSlides/notesSlide1.xml" Id="R12bf3d304e4642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8fc845a994927" /><Relationship Type="http://schemas.openxmlformats.org/officeDocument/2006/relationships/notesSlide" Target="/ppt/notesSlides/notesSlide2.xml" Id="R665b6cbd717340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53d804a8fc4700" /><Relationship Type="http://schemas.openxmlformats.org/officeDocument/2006/relationships/image" Target="/ppt/media/image.jpeg" Id="R4c6304f12eb14bee" /><Relationship Type="http://schemas.openxmlformats.org/officeDocument/2006/relationships/image" Target="/ppt/media/image3.jpeg" Id="R12c41c5acd30479e" /><Relationship Type="http://schemas.openxmlformats.org/officeDocument/2006/relationships/notesSlide" Target="/ppt/notesSlides/notesSlide3.xml" Id="R22eedbd6829d4b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b6ba911f604e49" /><Relationship Type="http://schemas.openxmlformats.org/officeDocument/2006/relationships/image" Target="/ppt/media/image4.jpeg" Id="Rbc91cf3853034e78" /><Relationship Type="http://schemas.openxmlformats.org/officeDocument/2006/relationships/image" Target="/ppt/media/image5.jpeg" Id="R2746136043454716" /><Relationship Type="http://schemas.openxmlformats.org/officeDocument/2006/relationships/notesSlide" Target="/ppt/notesSlides/notesSlide4.xml" Id="Rde9fcfeae9074f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fd70aa32e34939" /><Relationship Type="http://schemas.openxmlformats.org/officeDocument/2006/relationships/image" Target="/ppt/media/image6.jpeg" Id="R729d99b15362474f" /><Relationship Type="http://schemas.openxmlformats.org/officeDocument/2006/relationships/image" Target="/ppt/media/image4.jpeg" Id="Rba839802f43845c0" /><Relationship Type="http://schemas.openxmlformats.org/officeDocument/2006/relationships/image" Target="/ppt/media/image7.jpeg" Id="Rc685ea9a54ba4d8f" /><Relationship Type="http://schemas.openxmlformats.org/officeDocument/2006/relationships/image" Target="/ppt/media/image8.jpeg" Id="Rd20af376631d4668" /><Relationship Type="http://schemas.openxmlformats.org/officeDocument/2006/relationships/notesSlide" Target="/ppt/notesSlides/notesSlide5.xml" Id="R26874b644f6f4f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db8a22e193462f" /><Relationship Type="http://schemas.openxmlformats.org/officeDocument/2006/relationships/image" Target="/ppt/media/image6.jpeg" Id="Rabd7ffaeefe04fa0" /><Relationship Type="http://schemas.openxmlformats.org/officeDocument/2006/relationships/image" Target="/ppt/media/image4.jpeg" Id="R726df3fd1b6d494f" /><Relationship Type="http://schemas.openxmlformats.org/officeDocument/2006/relationships/image" Target="/ppt/media/image9.jpeg" Id="Re01c926a8bf3446c" /><Relationship Type="http://schemas.openxmlformats.org/officeDocument/2006/relationships/image" Target="/ppt/media/image10.jpeg" Id="Rd241dd4f3f0043ac" /><Relationship Type="http://schemas.openxmlformats.org/officeDocument/2006/relationships/notesSlide" Target="/ppt/notesSlides/notesSlide6.xml" Id="R5394ac63a43646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c374794f164cb7" /><Relationship Type="http://schemas.openxmlformats.org/officeDocument/2006/relationships/image" Target="/ppt/media/image6.jpeg" Id="R8a6e19e0e8994477" /><Relationship Type="http://schemas.openxmlformats.org/officeDocument/2006/relationships/image" Target="/ppt/media/image4.jpeg" Id="R937d8eaa4b9a40dc" /><Relationship Type="http://schemas.openxmlformats.org/officeDocument/2006/relationships/image" Target="/ppt/media/image.png" Id="R853e7ab2218a49f3" /><Relationship Type="http://schemas.openxmlformats.org/officeDocument/2006/relationships/image" Target="/ppt/media/image11.jpeg" Id="R8f4de284e6964e5b" /><Relationship Type="http://schemas.openxmlformats.org/officeDocument/2006/relationships/notesSlide" Target="/ppt/notesSlides/notesSlide7.xml" Id="R1d15b446d61e49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de79cdf69044ce" /><Relationship Type="http://schemas.openxmlformats.org/officeDocument/2006/relationships/notesSlide" Target="/ppt/notesSlides/notesSlide8.xml" Id="R0d324270c31f4d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f37a2f56fc4364" /><Relationship Type="http://schemas.openxmlformats.org/officeDocument/2006/relationships/notesSlide" Target="/ppt/notesSlides/notesSlide9.xml" Id="R06b53dcdef8842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d4afc90b6441ec" /><Relationship Type="http://schemas.openxmlformats.org/officeDocument/2006/relationships/notesSlide" Target="/ppt/notesSlides/notesSlide10.xml" Id="R436d89e9a2624e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ac268a3b5b4876" /><Relationship Type="http://schemas.openxmlformats.org/officeDocument/2006/relationships/image" Target="/ppt/media/image12.jpeg" Id="Reae04b9fdf4747f6" /><Relationship Type="http://schemas.openxmlformats.org/officeDocument/2006/relationships/image" Target="/ppt/media/image13.jpeg" Id="Rde4c8031f9214364" /><Relationship Type="http://schemas.openxmlformats.org/officeDocument/2006/relationships/notesSlide" Target="/ppt/notesSlides/notesSlide11.xml" Id="R7dc02959f47e41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a3acf0aac74654" /><Relationship Type="http://schemas.openxmlformats.org/officeDocument/2006/relationships/notesSlide" Target="/ppt/notesSlides/notesSlide12.xml" Id="Rc015756a6e1b44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022CE4-B5D6-4383-A277-DBD5803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CFEBD1-5444-4061-932D-C34EAE75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16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D89964-97E8-43D3-B104-20DBA4EC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542925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3900" b="1">
                <a:solidFill>
                  <a:srgbClr val="1A1A1A"/>
                </a:solidFill>
              </a:defRPr>
            </a:pPr>
            <a:r>
              <a:rPr sz="39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纯视觉跌倒检测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C9606D1-2124-4C94-8CD3-1982864F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面向低算力端侧的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可解释多人告警闭环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D8560A-2AD8-44D4-90E4-52AC50DA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521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YOLO Pose + 姿态几何评分 + 时序状态机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支持多人独立跟踪与事件去重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输出截图、视频与结构化告警证据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320E834-A98D-4AFD-869E-996A6AA8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960120"/>
            <a:ext cx="4937760" cy="3474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2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abcc4870f40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2240" y="1308734"/>
            <a:ext cx="4937760" cy="277749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0E1EB90-171E-465F-9250-76E2E308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171950"/>
            <a:ext cx="4718304" cy="269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75">
                <a:solidFill>
                  <a:srgbClr val="666666"/>
                </a:solidFill>
              </a:defRPr>
            </a:pPr>
            <a:r>
              <a:rPr sz="9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可见光姿态检测示例｜项目实测输出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7034F99-CFC3-4052-A85B-F7D7CC1E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49377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8F8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7E7E6D-1DDA-4A69-A809-55EA78D9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7" y="4882896"/>
            <a:ext cx="453542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C7000B"/>
                </a:solidFill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校企协同数字技术大赛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09E0201-B9F0-41A3-B03F-5019B371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7" y="5257800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华为专项赛道 · 初赛项目汇报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BBA83A1-A069-45A3-88B4-E32EDB38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9875520" cy="2423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825">
                <a:solidFill>
                  <a:srgbClr val="888888"/>
                </a:solidFill>
              </a:defRPr>
            </a:pPr>
            <a:r>
              <a:rPr sz="825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纯视觉｜可解释｜轻量化｜事件证据闭环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07cafee1043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2240" y="1308734"/>
            <a:ext cx="4937760" cy="27774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6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8520742-8B37-4D18-807A-2248C180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37B200-A4BF-4AB0-9498-E73050F6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端侧视觉同时回应安全、隐私与成本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DB7998-3CF6-48BA-BECD-8D7A634C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赛题约束不是附加条件，而是方案设计的起点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79BD0FC-DAE9-487A-9779-B826380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EE27ED6-3F72-4BFF-BB9A-980EBF5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2103120" cy="11704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19E1B0C-71E7-49CD-93C5-38264614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362456"/>
            <a:ext cx="1810511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7000B"/>
                </a:solidFill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纯视觉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5580C4A-0BFE-4EDC-9C4F-98024ED8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56232"/>
            <a:ext cx="181051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无需穿戴设备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A7C3573-EF98-4BCF-9BE9-4EC27B9D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234440"/>
            <a:ext cx="2103120" cy="11704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538454-2F17-42ED-AB54-3ECDE113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362456"/>
            <a:ext cx="1810511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7000B"/>
                </a:solidFill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端侧处理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6BF553-C2D7-45C6-AF04-8D6289F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856232"/>
            <a:ext cx="181051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降低视频外传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12F740F-2020-4E59-AC6C-F7C3883D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34440"/>
            <a:ext cx="2103120" cy="11704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E46F40-87AD-4A54-AF40-EE86EDBB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1362456"/>
            <a:ext cx="1810511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7000B"/>
                </a:solidFill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实时告警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3085CFE-5D26-4E4D-A7BC-C42B8C09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1856232"/>
            <a:ext cx="181051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事件级确认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1C9CB6B-EC1A-439C-8F2E-59FE4012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234440"/>
            <a:ext cx="2103120" cy="11704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4A991A7-E5D2-4DFE-BD88-B90808A9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1362456"/>
            <a:ext cx="1810511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7000B"/>
                </a:solidFill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903BB3D-B9A4-470E-AD86-BD581165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1856232"/>
            <a:ext cx="181051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截图·视频·JSON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8FD4FAC-2AE1-4C44-89AC-CB899917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05125"/>
            <a:ext cx="4663440" cy="1952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面向居家、养老院与病房等连续监护场景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1080P摄像头输入，算法内部缩放至384×384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端侧目标：延迟≤100ms，NPU存储≤20MB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D0D53A8-998E-4C08-8F48-6541878A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43200"/>
            <a:ext cx="521208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8F8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D04EB1F-8F4D-42F0-8215-22CA58AE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2962656"/>
            <a:ext cx="4809744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7000B"/>
                </a:solidFill>
              </a:defRPr>
            </a:pPr>
            <a:r>
              <a: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赛题硬指标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E0C2CB-727D-4CFD-A953-A019C03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7" y="3352800"/>
            <a:ext cx="4809744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参数量 ≤ 20M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FP32权重 ≤ 80MB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纯视觉｜可见光 + 红外图像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支持端侧NPU部署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738548D-38BE-4434-A96A-7860AF0F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赛题要求：纯视觉、端侧部署、1080P输入、≤100ms端侧耗时、≤20MB NPU存储</a:t>
            </a:r>
          </a:p>
        </p:txBody>
      </p:sp>
    </p:spTree>
    <p:extLst>
      <p:ext uri="{BB962C8B-B14F-4D97-AF65-F5344CB8AC3E}">
        <p14:creationId xmlns:p14="http://schemas.microsoft.com/office/powerpoint/2010/main" val="1268822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C34B897-55D5-45BE-A312-2947BFDA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FE86699-F1C9-4A49-A5EA-7336E843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一条链路完成“看见—判断—确认—留证”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510680-E732-4C00-8962-0BC179EE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模型负责感知，规则与时序负责可解释决策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81723C-017A-4AAD-AC1E-34238A44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246F924-7016-4C40-BD20-E0165412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6611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E303A8-63EF-4628-9706-C70F90F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490472"/>
            <a:ext cx="15148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1080P视频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62BEF4-511F-44BD-AC39-0679C0B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248" y="158191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DB4BEA0-43C4-4BED-AA35-00B5D7C0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552" y="1325880"/>
            <a:ext cx="16611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D23140-944A-48F1-B8B1-45CCECA3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1490472"/>
            <a:ext cx="15148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YOLO Pose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E271847-5CA2-4437-85B8-349A931B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999" y="158191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4A04A7A-1E25-4D0D-B820-9EA61BE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304" y="1325880"/>
            <a:ext cx="16611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0FC50F-99FB-489F-B366-1CBE530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456" y="1490472"/>
            <a:ext cx="15148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人体关键点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6D81661-4548-40A0-965E-BCB728AC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1" y="158191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C7DAF8A-48E9-496F-9A95-F1A00B5E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325880"/>
            <a:ext cx="16611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E6301BB-E708-4243-8973-84E5A1EC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490472"/>
            <a:ext cx="15148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几何风险分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E676201-B0C8-4877-8F50-5A485E09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504" y="158191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0A669CA-70F7-474B-BDD5-7A6EB780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808" y="1325880"/>
            <a:ext cx="16611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9B31DA6-5868-462A-A169-D42C408F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960" y="1490472"/>
            <a:ext cx="15148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时序状态机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2A9B4B-2140-4DB8-8A8C-313F4A14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256" y="158191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14719D4-8F03-4520-9688-DB9F637B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60" y="1325880"/>
            <a:ext cx="16611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4442DC3-8A6F-48D4-95AD-B3F19E98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712" y="1490472"/>
            <a:ext cx="15148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22222"/>
                </a:solidFill>
              </a:defRPr>
            </a:pPr>
            <a:r>
              <a:rPr sz="142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告警证据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CE7B089-22B6-412E-951B-1C4EDC8E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86050"/>
            <a:ext cx="475488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轻量姿态模型输出人体框与17个关键点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姿态几何特征形成可解释风险分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连续帧状态机确认事件，避免单帧触发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50A932A-42C3-4E2B-9553-EDAB2E6A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240280"/>
            <a:ext cx="50292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53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304f12eb14b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2334577"/>
            <a:ext cx="5029200" cy="2828925"/>
          </a:xfrm>
          <a:prstGeom xmlns:a="http://schemas.openxmlformats.org/drawingml/2006/main" prst="rect">
            <a:avLst/>
          </a:prstGeom>
        </p:spPr>
      </p:pic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5489DE-9142-47CF-BAC7-345C31AD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314950"/>
            <a:ext cx="4809744" cy="269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75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验证集姿态预测样例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A241168-FF6B-4A4D-A361-536DD480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技术实现：fall_detection/fall_logic.py｜fall_detection/state_machine.py｜scripts/run_system.py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41c5acd30479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2334577"/>
            <a:ext cx="5029200" cy="2828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4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474CCF6-8FF5-46BA-B195-8AB211B1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79039D5-424C-42BE-BDF4-3239DF90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告警分数来自可解释的姿态证据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1EB7D7-8BB2-401D-B322-4E2594F9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每次确认都能回答“为什么判定为跌倒”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F9AA89-18B7-45F7-BD13-D3AE9DF9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5FD71D9-CADF-4A41-B184-09BD1D33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33500"/>
            <a:ext cx="4297680" cy="2333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躯干角度：由竖直转向近水平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框体宽高比：横向占比明显增大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关键点高度：头、肩、髋整体下移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置信度门控：关键点缺失时降低决策强度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E5391E0-C12E-4D05-8F59-91085C92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143000"/>
            <a:ext cx="521208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2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1cf3853034e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7840" y="1948814"/>
            <a:ext cx="5212080" cy="195453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9E9523F-EAB7-4980-A354-FCCAB7B7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4453128"/>
            <a:ext cx="49926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975">
                <a:solidFill>
                  <a:srgbClr val="666666"/>
                </a:solidFill>
              </a:defRPr>
            </a:pPr>
            <a:r>
              <a:rPr sz="9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FALL_CONFIRMED：姿态、目标框与风险分同步留证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271C862-DD63-4CC6-B96A-AF0C30D8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42976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8F8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24B9F38-F473-4AD8-9FCB-4C5386A0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229100"/>
            <a:ext cx="3895344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C7000B"/>
                </a:solidFill>
              </a:defRPr>
            </a:pPr>
            <a:r>
              <a: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综合风险分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10F78AF-272B-49D8-A74C-F0CF27B2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524375"/>
            <a:ext cx="389534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多特征加权 → 阈值判定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25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规则透明、阈值可调、结果便于复盘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1939264-D9D0-4FD0-9A0E-47322BC2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证据：fall_detection/fall_logic.py｜事件截图来自多人INT8功能验证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61360434547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7840" y="1948814"/>
            <a:ext cx="5212080" cy="19545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18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ACC869C-6C24-445F-A0F2-C92520D3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A92A2D-2DB0-4335-ABD2-345EE65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连续状态确认抑制弯腰、蹲下等瞬时误报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52453A-6404-4AE2-9AC0-D926A3A3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判定逻辑从单帧分类升级为事件级状态机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8E44E4-3874-4785-AEDF-3A598467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D291605-FCD4-4A04-8C19-618164D0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6A84479-AEE0-4A25-8868-06879B9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NORMAL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3351C6-7AC2-461E-BBF4-05A7058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958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AE41536-E6B4-481B-A40F-2D16105B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62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01FEBA5-A716-4FF3-9523-76277DD5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14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SUSPECTED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6734116-7AB8-46F1-A28C-C176985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420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7E2BD1B-390B-445A-B125-2159AC0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724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1E2FD6-94D3-4D0B-A0D5-EA26CCB7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876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CONFIRMED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1339138-252A-4EEF-AF39-95E03E32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883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2166626-D4E8-4DDB-9429-4C0A8AEE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187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3511494-E1D1-4FD8-8921-F8A9B3F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339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COOLDOWN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E3800C-ED4B-4487-A05E-07330721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345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15BF2AA-679C-446C-92ED-8DDC3DB2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49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5875A80-D36E-4321-95A5-A0127E3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801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RECOVERED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F294EF5-A3B6-4341-8D1C-56AC33B2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475488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50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d99b1536247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4660"/>
            <a:ext cx="4754880" cy="1783080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57C3D1B-23FE-4614-9FE5-A5117DB9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138928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正常/过渡姿态不直接告警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ECC4A31-4E14-42D7-94A5-E780EE9F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7440"/>
            <a:ext cx="475488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53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39802f43845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2994660"/>
            <a:ext cx="4754880" cy="1783080"/>
          </a:xfrm>
          <a:prstGeom xmlns:a="http://schemas.openxmlformats.org/drawingml/2006/main" prst="rect">
            <a:avLst/>
          </a:prstGeom>
        </p:spPr>
      </p:pic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A1FEF39-E84C-4CF7-8541-A6BCF380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5138928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C7000B"/>
                </a:solidFill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连续高风险后确认跌倒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0F3289F-C552-4E62-9F75-F3F08AE0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状态机：风险积累→确认→冷却→恢复；避免单帧异常直接触发告警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5ea9a54ba4d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4660"/>
            <a:ext cx="4754880" cy="1783080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af376631d46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2994660"/>
            <a:ext cx="4754880" cy="17830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35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ACC869C-6C24-445F-A0F2-C92520D3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A92A2D-2DB0-4335-ABD2-345EE65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多人场景按 track_id 独立管理状态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52453A-6404-4AE2-9AC0-D926A3A3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同一画面中，每个人拥有独立时序、冷却与证据链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8E44E4-3874-4785-AEDF-3A598467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D291605-FCD4-4A04-8C19-618164D0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6A84479-AEE0-4A25-8868-06879B9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检测多人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3351C6-7AC2-461E-BBF4-05A7058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958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AE41536-E6B4-481B-A40F-2D16105B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62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01FEBA5-A716-4FF3-9523-76277DD5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14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分配ID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6734116-7AB8-46F1-A28C-C176985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420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7E2BD1B-390B-445A-B125-2159AC0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724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1E2FD6-94D3-4D0B-A0D5-EA26CCB7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876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独立评分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1339138-252A-4EEF-AF39-95E03E32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883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2166626-D4E8-4DDB-9429-4C0A8AEE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187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3511494-E1D1-4FD8-8921-F8A9B3F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339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独立状态机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E3800C-ED4B-4487-A05E-07330721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345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15BF2AA-679C-446C-92ED-8DDC3DB2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49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5875A80-D36E-4321-95A5-A0127E3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801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独立留证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F294EF5-A3B6-4341-8D1C-56AC33B2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475488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50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7ffaeefe04f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4660"/>
            <a:ext cx="4754880" cy="1783080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57C3D1B-23FE-4614-9FE5-A5117DB9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138928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C7000B"/>
                </a:solidFill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人物 #4 触发独立跌倒事件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ECC4A31-4E14-42D7-94A5-E780EE9F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7440"/>
            <a:ext cx="475488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53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df3fd1b6d49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2994660"/>
            <a:ext cx="4754880" cy="1783080"/>
          </a:xfrm>
          <a:prstGeom xmlns:a="http://schemas.openxmlformats.org/drawingml/2006/main" prst="rect">
            <a:avLst/>
          </a:prstGeom>
        </p:spPr>
      </p:pic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A1FEF39-E84C-4CF7-8541-A6BCF380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5138928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C7000B"/>
                </a:solidFill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人物 #6 触发独立跌倒事件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0F3289F-C552-4E62-9F75-F3F08AE0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合成多人视频功能验证｜画面最多跟踪2人｜用于验证状态隔离，不作为真实多人精度基准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c926a8bf3446c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4660"/>
            <a:ext cx="4754880" cy="1783080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1dd4f3f0043ac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2994660"/>
            <a:ext cx="4754880" cy="17830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35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ACC869C-6C24-445F-A0F2-C92520D3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A92A2D-2DB0-4335-ABD2-345EE65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训练证据验证姿态主干已具备稳定输出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52453A-6404-4AE2-9AC0-D926A3A3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训练曲线说明模型收敛，视频评估验证完整链路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8E44E4-3874-4785-AEDF-3A598467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D291605-FCD4-4A04-8C19-618164D0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6A84479-AEE0-4A25-8868-06879B9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标注检查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3351C6-7AC2-461E-BBF4-05A7058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958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AE41536-E6B4-481B-A40F-2D16105B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262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01FEBA5-A716-4FF3-9523-76277DD5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14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数据增强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6734116-7AB8-46F1-A28C-C176985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420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7E2BD1B-390B-445A-B125-2159AC0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724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1E2FD6-94D3-4D0B-A0D5-EA26CCB7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876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姿态训练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1339138-252A-4EEF-AF39-95E03E32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883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2166626-D4E8-4DDB-9429-4C0A8AEE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187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3511494-E1D1-4FD8-8921-F8A9B3F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339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验证评估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E3800C-ED4B-4487-A05E-07330721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345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15BF2AA-679C-446C-92ED-8DDC3DB2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49" y="1234440"/>
            <a:ext cx="193487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166A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5875A80-D36E-4321-95A5-A0127E3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801" y="1399032"/>
            <a:ext cx="178856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导出ONNX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F294EF5-A3B6-4341-8D1C-56AC33B2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475488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50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e19e0e89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4660"/>
            <a:ext cx="4754880" cy="1783080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57C3D1B-23FE-4614-9FE5-A5117DB9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138928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50 epoch训练结果曲线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ECC4A31-4E14-42D7-94A5-E780EE9F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7440"/>
            <a:ext cx="475488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53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d8eaa4b9a40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2994660"/>
            <a:ext cx="4754880" cy="1783080"/>
          </a:xfrm>
          <a:prstGeom xmlns:a="http://schemas.openxmlformats.org/drawingml/2006/main" prst="rect">
            <a:avLst/>
          </a:prstGeom>
        </p:spPr>
      </p:pic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A1FEF39-E84C-4CF7-8541-A6BCF380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5138928"/>
            <a:ext cx="45354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验证集姿态预测样例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0F3289F-C552-4E62-9F75-F3F08AE0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训练记录：runs/train/fall_pose_v3/results.csv｜本地验证集仅11张，不能替代最终泛化评估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e7ab2218a49f3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4660"/>
            <a:ext cx="4754880" cy="1783080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de284e6964e5b"/>
          <a:srcRect xmlns:a="http://schemas.openxmlformats.org/drawingml/2006/main" l="0" t="17273" r="0" b="17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2994660"/>
            <a:ext cx="4754880" cy="17830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350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421BFE2-688D-4D65-AEB9-51383FD5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A1EFE7-C608-4592-A4CE-95D4377B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8段小样本视频：链路可跑通，误报仍可定位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7AF1CF-ED3A-4EE7-BD0E-D32A5680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该结果用于功能验证，不作为最终泛化准确率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BF80A7-E246-48B3-8D71-F07825C2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65F0C24-2961-4E50-968D-76F65378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4440"/>
            <a:ext cx="20574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146726F-418F-4744-A22B-C70CC293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362456"/>
            <a:ext cx="176479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87.5%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13ACE26-D777-43E8-A63E-B839AB66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856232"/>
            <a:ext cx="17647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视频级 Accuracy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F8CBA22-F9F0-42E9-85EE-B271458F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234440"/>
            <a:ext cx="20574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9322C45-F665-4A4B-9B84-82CB2E04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362456"/>
            <a:ext cx="176479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26D8D6-BD60-4851-923B-FD14E0F4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856232"/>
            <a:ext cx="17647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3AA8605-B76B-4650-BEDD-44267C96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234440"/>
            <a:ext cx="20574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24B421C-5EC0-4398-B7F6-8B2DA2C3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264" y="1362456"/>
            <a:ext cx="176479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7B9CA0E-6391-4418-A7C5-0E5A6987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264" y="1856232"/>
            <a:ext cx="17647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F532608-7451-448E-AFEF-19857E10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234440"/>
            <a:ext cx="20574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EEE37EB-8683-4925-B251-F1FBE5D8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3" y="1362456"/>
            <a:ext cx="1764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4A133C9-90EA-4729-B2EE-DA475CAD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983" y="1856232"/>
            <a:ext cx="17647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标注视频数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15DB76-7893-4E11-ADB9-DDA84B51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TP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16EBAA4-BB25-4CB6-9C12-4CA6142A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834639"/>
            <a:ext cx="2697479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10160">
            <a:solidFill>
              <a:srgbClr val="EEF0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F0CE0BB-A576-48E6-B1A4-C8E92D55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834639"/>
            <a:ext cx="2697479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818B73E-D6BF-4ECB-B618-03373F5C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770632"/>
            <a:ext cx="640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1C3857A-8BBE-476C-A8D4-5684DD57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66110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FP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7011F50-0A5C-40DD-AC83-514A60E6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211829"/>
            <a:ext cx="2697479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10160">
            <a:solidFill>
              <a:srgbClr val="EEF0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2DCAB10-DFE0-4708-AB56-939907E8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211829"/>
            <a:ext cx="674369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A47A613-0C85-4D68-A671-4AECA49F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147822"/>
            <a:ext cx="640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F5CA4C3-64B3-4A2A-859C-A88EBEA8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43300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TN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77B0A2A-40F3-44D7-A548-6C809BAD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589020"/>
            <a:ext cx="2697479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10160">
            <a:solidFill>
              <a:srgbClr val="EEF0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98D38A0-DB40-41CE-900A-03358BA0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589020"/>
            <a:ext cx="202311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5DE03ED-B587-4BDE-8B52-2A9424BB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525012"/>
            <a:ext cx="640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F767474-98BF-4FA4-83C2-993570DB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20489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FN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D503466-D6F5-4A9D-854A-8F4A2589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966209"/>
            <a:ext cx="2697479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10160">
            <a:solidFill>
              <a:srgbClr val="EEF0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E138038-D993-446C-9D87-F1803B2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966209"/>
            <a:ext cx="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3421A3A-E315-41E7-8D00-9CE1B24D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902202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350" b="1">
                <a:solidFill>
                  <a:srgbClr val="444444"/>
                </a:solidFill>
              </a:defRPr>
            </a:pPr>
            <a:r>
              <a:rPr sz="1350" b="1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FAF4F1C-A837-494A-B967-EDA61467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4480560" cy="147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4段跌倒视频全部检出，Recall为100%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1段非跌倒视频误报，主要改进方向是阈值与时序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伪红外为灰度复制流程验证，不等同真实红外数据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1F807B59-2F6F-43BA-828C-3422738E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70832"/>
            <a:ext cx="44805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8F8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9F1D803-30CC-464D-9A06-E720877A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457700"/>
            <a:ext cx="407822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C7000B"/>
                </a:solidFill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53403A78-EC3E-4070-8832-4EF71D2A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819650"/>
            <a:ext cx="4078224" cy="461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13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小样本｜视频级标签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13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功能回归而非竞赛最终成绩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D0B6061-BC2F-4A57-A598-5992B05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证据：reports/evaluation/pseudo_ir_labeled_video_eval.json｜TP=4、FP=1、TN=3、FN=0</a:t>
            </a:r>
          </a:p>
        </p:txBody>
      </p:sp>
    </p:spTree>
    <p:extLst>
      <p:ext uri="{BB962C8B-B14F-4D97-AF65-F5344CB8AC3E}">
        <p14:creationId xmlns:p14="http://schemas.microsoft.com/office/powerpoint/2010/main" val="2048039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315F892-17D8-4D08-9E73-853C92F9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2BC7CB7-A172-485E-BDC4-F65FFD3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量化将模型压缩72.32%，保留标准ONNX链路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7DEF4E-B38B-4853-B38C-397E0A78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轻量化结果为端侧NPU迁移提供工程基础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026C28-8594-4C87-AB56-DBA1D41E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5BA9CC3-8F2D-496B-B885-036C0837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24231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1664751-14A5-4942-8F11-AE36CA91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362456"/>
            <a:ext cx="2130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3.314M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8E7FC3-A313-42DC-938D-D6107A50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856232"/>
            <a:ext cx="21305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FP32参数量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0FE6ABA-35EE-4D27-B7EA-3963B24B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234440"/>
            <a:ext cx="24231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12CA81-AA50-4F0C-91BD-4F5664A7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1362456"/>
            <a:ext cx="213055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13.34MB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B992194-B4B4-43A8-B07B-BCAA14EF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1856232"/>
            <a:ext cx="21305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FP32模型文件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3D4735A-1680-49EE-9B6F-A936D0FC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4440"/>
            <a:ext cx="24231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799F9C-5A44-437A-BCFF-6F3EB0F2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362456"/>
            <a:ext cx="21305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3.69MB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C2E4AEA-B0C6-4D5C-A9D3-5760331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856232"/>
            <a:ext cx="21305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INT8模型文件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B94DD3C-AC67-4577-831A-621BE480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234440"/>
            <a:ext cx="1874519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524A58F-7A78-41DE-868C-C2AFC5B3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1362456"/>
            <a:ext cx="1581911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72.32%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E9B8911-B88F-4F8C-AF1E-77625F5B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1856232"/>
            <a:ext cx="158191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文件体积下降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7D0C78C-336F-495B-955E-FD0CB8A6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193487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9AF3FB2-912B-4745-9E9E-2C7A60B7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36392"/>
            <a:ext cx="178856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FP32 ONNX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D4CB52B-C4A3-4D9A-83D2-236CDCE9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118" y="322783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48865AC-3E73-4CEF-9E94-290D5CF8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422" y="2971800"/>
            <a:ext cx="193487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80DD10B-06D0-4788-9B7C-1D647F3F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574" y="3136392"/>
            <a:ext cx="178856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64个校准样本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9B368D1-9EC0-44B7-85F0-9133748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580" y="322783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10A08547-EB9E-42B9-A60B-C9437433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884" y="2971800"/>
            <a:ext cx="193487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A98E3BE-353D-4A51-A05F-EEEE765C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036" y="3136392"/>
            <a:ext cx="178856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静态量化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C077962-8620-40D4-8EAD-B05D24DE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43" y="322783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4F90C2F-6BFE-4289-A13E-C2CED35A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1347" y="2971800"/>
            <a:ext cx="193487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C626A16B-9B2F-4153-8057-A19A362A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499" y="3136392"/>
            <a:ext cx="178856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INT8 QDQ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63C2986-FC1E-4F82-A3AC-96250EDB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505" y="322783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3C7F04C0-31D9-4047-B881-DFB0B55A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809" y="2971800"/>
            <a:ext cx="193487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8B39801-8A03-40E2-9EBC-46CA1241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961" y="3136392"/>
            <a:ext cx="178856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模型审计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D168274-AE7C-468A-A9C0-842F5DEC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9784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固定输入 1×3×384×384｜标准ONNX算子｜伪红外用于量化校准兼容性，不等同真实传感器验证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02EC658-6B69-49F1-8D9D-4014CFB6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实测：FP32 13.3421MB｜INT8 3.6931MB｜QDQ静态量化｜ONNX Runtime可加载</a:t>
            </a:r>
          </a:p>
        </p:txBody>
      </p:sp>
    </p:spTree>
    <p:extLst>
      <p:ext uri="{BB962C8B-B14F-4D97-AF65-F5344CB8AC3E}">
        <p14:creationId xmlns:p14="http://schemas.microsoft.com/office/powerpoint/2010/main" val="12639352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373F0A5-E74B-4F17-8328-20365FF3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C22663C-C3F2-4EE4-A63D-CFD2695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实测项给证据，未上板项明确标为设计目标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9BE186-9351-42D0-AB5F-5908CB29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当前合规状态：6项通过，2项待真实NPU验证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609C3A2-7CA0-4E5A-BAE1-69EDB272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3661A2A-8743-4636-92C7-5614791E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24231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D989FB-E762-4B6D-B0BE-DEF246BB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362456"/>
            <a:ext cx="2130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3.314M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79182DA-C699-4C02-94EE-D523CBEE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856232"/>
            <a:ext cx="21305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参数量实测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1DF444B-E71D-4CA0-B83A-05DECFE0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234440"/>
            <a:ext cx="24231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F3810E-D80A-47B5-9E67-4A1C58F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1362456"/>
            <a:ext cx="21305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13.34MB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71F637-B288-4D45-9E8A-1E6560F8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1856232"/>
            <a:ext cx="21305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FP32文件实测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5A0C819-5597-48D0-ABFD-39512D3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4440"/>
            <a:ext cx="24231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EFB09C8-0B56-4694-A660-DE9F74E3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362456"/>
            <a:ext cx="2130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92D993E-5060-4C61-9F5B-2267F709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856232"/>
            <a:ext cx="21305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合规通过项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6487D0B-FE04-4800-9B15-C4F186D4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234440"/>
            <a:ext cx="1874519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F7809AF-9B8B-459C-994E-413E8335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1362456"/>
            <a:ext cx="158191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250" b="1">
                <a:solidFill>
                  <a:srgbClr val="C7000B"/>
                </a:solidFill>
              </a:defRPr>
            </a:pPr>
            <a:r>
              <a:rPr sz="22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4650347-8415-4539-8B05-6DDF3DCB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1856232"/>
            <a:ext cx="158191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666666"/>
                </a:solidFill>
              </a:defRPr>
            </a:pPr>
            <a:r>
              <a:rPr sz="105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设计目标项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FEE8966-DE23-47C6-ADCF-FEB9FDFF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14625"/>
            <a:ext cx="4937760" cy="2333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实测证据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参数量、FP32/INT8模型体积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ONNX结构、输入输出与CPU可执行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可见光、伪红外流程与多人功能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设计目标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NPU端到端耗时 ≤ 100ms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NPU运行存储占用 ≤ 20MB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A464B40-2E4E-438B-B753-A11716A7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43200"/>
            <a:ext cx="443484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8F8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2E55D29-1E2F-41A2-8844-BBE6262E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962656"/>
            <a:ext cx="4032503" cy="4069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C7000B"/>
                </a:solidFill>
              </a:defRPr>
            </a:pPr>
            <a:r>
              <a: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PC参考性能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2AD18A4-D47D-4490-A70F-26719AD7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333750"/>
            <a:ext cx="4032503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INT8 ONNX Runtime · CPU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Mean 19.02ms｜P95 28.71ms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约52.6 FPS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100">
                <a:solidFill>
                  <a:srgbClr val="5454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不含视频解码、跟踪、时序判断与告警输出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F375384-56F3-47D8-96B1-873800E5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状态：design_ready_unverified｜PC测速不能替代真实海思/瑞芯微NPU实测</a:t>
            </a:r>
          </a:p>
        </p:txBody>
      </p:sp>
    </p:spTree>
    <p:extLst>
      <p:ext uri="{BB962C8B-B14F-4D97-AF65-F5344CB8AC3E}">
        <p14:creationId xmlns:p14="http://schemas.microsoft.com/office/powerpoint/2010/main" val="1394813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B6E4ACF-1D84-4CE9-B0F8-168563F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C7340E-8EED-4F49-9267-D07AD5D9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告警不是一个标签，而是一条可追溯证据链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0B5CCA-D32E-497B-91BE-EAB316ED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从事件确认到复盘，系统输出完整事件级材料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FCE38A-5312-4E4A-A26B-372A30A7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494FC33-F62A-4B98-9DAC-062A81EE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4440"/>
            <a:ext cx="193487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2865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3328A0D-C592-486B-9A8D-16526D9F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399032"/>
            <a:ext cx="178856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视频输入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4673AAF-6021-4D80-B718-1C1B8FC5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678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735EE9D-044D-4013-BF3A-968D6A52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982" y="1234440"/>
            <a:ext cx="193487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2865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F4CE531-31DB-48BE-9B57-2B46D00E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34" y="1399032"/>
            <a:ext cx="178856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事件确认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FDED521-2397-467C-9751-E5A81F9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140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323A1BC-3A6B-4EF0-9DD8-570F4BC0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444" y="1234440"/>
            <a:ext cx="193487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2865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C6326E-15DF-4B62-8D45-544C0900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596" y="1399032"/>
            <a:ext cx="178856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保存截图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FA4BAA0-DAA6-496F-9001-A2E28D3B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603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82850DB-EF34-43A6-BA0E-51046F16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907" y="1234440"/>
            <a:ext cx="193487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2865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39CDE20-42CF-4D02-A2A0-41326215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059" y="1399032"/>
            <a:ext cx="178856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保存短视频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1553C49-8773-46FF-8A18-F2E40D4C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065" y="1490472"/>
            <a:ext cx="1280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7000B"/>
                </a:solidFill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4F95FAA-307C-4498-8887-68894352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369" y="1234440"/>
            <a:ext cx="193487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2865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3F390A4-9402-41D5-98FB-B435A303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521" y="1399032"/>
            <a:ext cx="178856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JSON / HTML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23B8A7C6-5034-470D-854B-790A8E8F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31720"/>
            <a:ext cx="48463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0160">
            <a:solidFill>
              <a:srgbClr val="DEE2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pic>
        <p:nvPicPr>
          <p:cNvPr id="4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04b9fdf4747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39" y="2931795"/>
            <a:ext cx="4846320" cy="1817370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D894550-25DE-450D-A98E-3D705099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093207"/>
            <a:ext cx="46268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1">
                <a:solidFill>
                  <a:srgbClr val="333333"/>
                </a:solidFill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系统事件 snapshot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BE74D65-3628-480C-B894-B7DFD8F0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714625"/>
            <a:ext cx="4389120" cy="2190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居家养老与独居老人监护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养老机构与医院病房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社区公共安全与弱网环境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事件材料可定位、可复盘、可审计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3B46A9F-EFF6-4421-9BC0-115DF6E0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系统输出：snapshot.jpg｜event.mp4｜events.jsonl｜report.html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c8031f92143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39" y="2931795"/>
            <a:ext cx="4846320" cy="18173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76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18C6A0F-993C-4D48-97F0-54D3477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7650"/>
            <a:ext cx="6400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C7000B"/>
                </a:solidFill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7A7C2F5-5101-4EAA-A69E-3A6EB01C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0500"/>
            <a:ext cx="1028700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700" b="1">
                <a:solidFill>
                  <a:srgbClr val="1A1A1A"/>
                </a:solidFill>
              </a:defRPr>
            </a:pPr>
            <a:r>
              <a:rPr sz="27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轻量、可解释、可追溯：完成端侧跌倒告警MVP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D64F63-B01A-47C2-8898-2DBEF31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685800"/>
            <a:ext cx="1009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核心成果已形成，能力边界清晰、部署路径完整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3F004B2-AF07-4D7B-A99A-AF56AF8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8700"/>
            <a:ext cx="1138428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C6757D-06E9-4E6D-98FC-FE5EB41A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52550"/>
            <a:ext cx="4892040" cy="2476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3.314M参数姿态模型，完成FP32/INT8双版本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多人独立跟踪 + 时序状态机降低单帧误报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视频、截图、JSON、HTML构成事件证据闭环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133项测试通过，关键指标均有可复核报告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BF4463A-433A-42B4-A926-3BBB4F33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429768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4CF388A-6BF5-4995-AB3F-51974DD8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554480"/>
            <a:ext cx="3840480" cy="461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025" b="1">
                <a:solidFill>
                  <a:srgbClr val="C7000B"/>
                </a:solidFill>
              </a:defRPr>
            </a:pPr>
            <a:r>
              <a:rPr sz="20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方案价值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E16942-47E5-4A18-98DB-1C63D5AD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43125"/>
            <a:ext cx="365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纯视觉降低使用门槛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端侧处理兼顾隐私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解释性规则便于复盘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量化模型面向NPU迁移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EDA78AC-9764-4C44-A285-BA8EB443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969264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8F8"/>
          </a:solidFill>
          <a:ln xmlns:a="http://schemas.openxmlformats.org/drawingml/2006/main" w="10160">
            <a:solidFill>
              <a:srgbClr val="C700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909B28-850D-4429-83D3-72301101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86300"/>
            <a:ext cx="9290304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C7000B"/>
                </a:solidFill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62CFA9D-E72C-403A-9290-49909159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019675"/>
            <a:ext cx="9290304" cy="324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工程闭环已完成；真实NPU与真实红外结果将在指定目标板卡上进一步验证。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E4D5535-F445-44B5-AF30-E47CB0F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86525"/>
            <a:ext cx="1104900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788">
                <a:solidFill>
                  <a:srgbClr val="888888"/>
                </a:solidFill>
              </a:defRPr>
            </a:pPr>
            <a:r>
              <a:rPr sz="788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项目交付：模型｜代码｜量化｜多人检测｜告警闭环｜测试与合规报告</a:t>
            </a:r>
          </a:p>
        </p:txBody>
      </p:sp>
    </p:spTree>
    <p:extLst>
      <p:ext uri="{BB962C8B-B14F-4D97-AF65-F5344CB8AC3E}">
        <p14:creationId xmlns:p14="http://schemas.microsoft.com/office/powerpoint/2010/main" val="14628114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2026-07-30T15:04:42.4790000Z</dcterms:created>
  <dcterms:modified xsi:type="dcterms:W3CDTF">2026-07-30T15:04:42.4810000Z</dcterms:modified>
</coreProperties>
</file>